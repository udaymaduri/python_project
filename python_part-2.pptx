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81" r:id="rId4"/>
    <p:sldId id="274" r:id="rId5"/>
    <p:sldId id="280" r:id="rId6"/>
    <p:sldId id="279" r:id="rId7"/>
    <p:sldId id="275" r:id="rId8"/>
    <p:sldId id="278" r:id="rId9"/>
    <p:sldId id="277" r:id="rId10"/>
    <p:sldId id="276" r:id="rId11"/>
    <p:sldId id="282" r:id="rId12"/>
    <p:sldId id="283" r:id="rId13"/>
    <p:sldId id="285" r:id="rId14"/>
    <p:sldId id="284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BC5CE64-4A49-4582-93A7-ED00E7B760C3}">
          <p14:sldIdLst>
            <p14:sldId id="256"/>
            <p14:sldId id="268"/>
            <p14:sldId id="281"/>
            <p14:sldId id="274"/>
            <p14:sldId id="280"/>
            <p14:sldId id="279"/>
            <p14:sldId id="275"/>
            <p14:sldId id="278"/>
            <p14:sldId id="277"/>
            <p14:sldId id="276"/>
            <p14:sldId id="282"/>
            <p14:sldId id="283"/>
            <p14:sldId id="285"/>
            <p14:sldId id="284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0D212-7B57-45C2-84DF-B4289C93660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D594-D911-4F7C-927C-57B4ED1CB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64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D594-D911-4F7C-927C-57B4ED1CBA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0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CE17-AB60-072B-62F8-78D571872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CAE59-5B87-BE96-CF0D-7CF0A270F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3CAB-5285-1DD2-78C6-833DE35C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60364-7C20-0AC3-631F-B2614029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ECB34-F75F-181F-CD11-CE1FD78A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C745-82F6-EF7B-F336-5E04D589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3C7E-5085-9A6C-8461-2C921B920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4E91-8974-B95B-DD06-C4DA4AD4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401AF-9BB2-6531-D2A6-1E6DADB7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91B29-61EF-6CE6-9818-ADFB593F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5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9C06-D9ED-5434-6F57-70865B71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59B02-0E0B-EDDE-7394-60D1FDB86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13BE-FEF0-7141-FB06-59B3C211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3B75F-50EA-AC36-7A3D-CF22966C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033E-4C55-456D-388E-DC3A573C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4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06E0-D532-530B-762A-06035372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9AF1E-F58D-E93B-A223-BD342836B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54C1E-9386-44CD-0CE5-E2D9991AE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4F57D-4702-44D4-E7B4-ED4D7913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CDF6-1550-206C-DCB1-2AA726E0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A9905-3899-93CB-11FD-52B55BE0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1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C4C1-5CF3-AA9E-9021-4B231252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BA89F-CAB9-D3B1-5E48-02F59D301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39970-ABDA-73D9-E76D-0B034DE5E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61914-BEA3-53FF-6AB1-5B99E718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DE04F-1233-435E-1588-F5F00D2B6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62159-95D1-A4B6-0E58-0AB40F42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6385D-9B24-E60F-66C4-1A9DD7DB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B972BB-BE19-E5D3-AD04-B9D07FFF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54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571D-77E6-D6B4-4D31-819BFA78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04A1B-8298-71B1-31F9-FB16CC2D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843DE-A7CA-F726-0CAD-2D59CBC9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55BA1-7544-8A2A-C902-A69B8450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59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D28C2-81B6-918E-0D85-983B8FDC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FB590-B819-9D3C-E666-1B27FF3D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31910-54C3-13DC-5312-151BAA64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0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5DE3-F9EE-7D70-4CCF-EF3D8822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4CE7-0C84-AE65-9BB1-06A90E248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FAE44-99B7-57FF-1409-2A7A07B17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0450F-ADA9-5A0F-6A29-2C2C9C0B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AE79E-FAD8-BA41-C55B-C8BE3F96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943D0-5BDF-5916-956E-B67A603B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3808-5EAD-675F-7419-8CFE0011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1E0220-0AA5-40EE-F90F-893E9D84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B0E2C-1CA3-AEC8-4C21-4D4D3A15F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580BA-15FC-4460-480D-2CD18088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CDCCC-7A84-D683-0539-ACFD3991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63F27-FCFF-6170-2587-34E058DF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01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C876-DCD4-F2D0-439D-0723FE81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75A3D-C334-85C2-980F-3ECE2D2F2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18C64-6863-C9D5-C89A-47647D18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0B22-C2A0-E0D4-7A34-BE63D518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D46A2-7D47-61B0-D2FF-3A4D3AF7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0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43B63-4D49-872A-0247-A05D3DDDD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87405-66F1-A1A8-4D2A-C528C12E7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8178-C8D3-1286-580C-15A0AC64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28A9D-FF12-CBE6-8516-FAF896B8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1C1BF-1ACB-7626-F710-88EC89FB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83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45168-5D08-C193-5565-208F1538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15523-9A5D-878F-FC77-E4EDC175A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D0A96-1ADD-1256-C5AD-DA16467BE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4CCAA-A9C8-4C7E-BE33-675D23FFEB1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6FEA-0D5F-E7A5-7E96-2515B59CB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7D04-AF80-01F9-0950-6031FB340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B4CA8-C206-4CB9-8868-D7971C4D3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2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913AD5F-1FC4-DA80-CFE9-22FEC5A45DE6}"/>
              </a:ext>
            </a:extLst>
          </p:cNvPr>
          <p:cNvSpPr/>
          <p:nvPr/>
        </p:nvSpPr>
        <p:spPr>
          <a:xfrm>
            <a:off x="1523999" y="1828801"/>
            <a:ext cx="9781309" cy="1682495"/>
          </a:xfrm>
          <a:prstGeom prst="rect">
            <a:avLst/>
          </a:prstGeom>
          <a:solidFill>
            <a:srgbClr val="0F4C81">
              <a:alpha val="60000"/>
            </a:srgbClr>
          </a:solidFill>
          <a:ln w="12700">
            <a:solidFill>
              <a:srgbClr val="0F4C81">
                <a:alpha val="60000"/>
              </a:srgbClr>
            </a:solidFill>
            <a:prstDash val="solid"/>
          </a:ln>
        </p:spPr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										Carbon Reporting &amp; CO₂ Reduction Strategies</a:t>
            </a:r>
            <a:endParaRPr lang="en-US" sz="3200"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ACB16-B4C7-93FE-3B25-DB73FAD6EDD4}"/>
              </a:ext>
            </a:extLst>
          </p:cNvPr>
          <p:cNvSpPr txBox="1"/>
          <p:nvPr/>
        </p:nvSpPr>
        <p:spPr>
          <a:xfrm>
            <a:off x="4405745" y="3049632"/>
            <a:ext cx="4537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Python Project  Part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CEDEE-0E47-FD85-9B80-358358808331}"/>
              </a:ext>
            </a:extLst>
          </p:cNvPr>
          <p:cNvSpPr txBox="1"/>
          <p:nvPr/>
        </p:nvSpPr>
        <p:spPr>
          <a:xfrm>
            <a:off x="1097280" y="4379976"/>
            <a:ext cx="4998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Vamshi </a:t>
            </a:r>
            <a:r>
              <a:rPr lang="en-IN" b="1" dirty="0" err="1"/>
              <a:t>Varaganti</a:t>
            </a:r>
            <a:r>
              <a:rPr lang="en-IN" b="1" dirty="0"/>
              <a:t>(110090)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Uday Maduri(110310)</a:t>
            </a:r>
            <a:r>
              <a:rPr lang="en-IN" dirty="0"/>
              <a:t>   </a:t>
            </a:r>
          </a:p>
          <a:p>
            <a:br>
              <a:rPr lang="en-IN" dirty="0"/>
            </a:br>
            <a:r>
              <a:rPr lang="en-IN" b="1" dirty="0"/>
              <a:t>Course:</a:t>
            </a:r>
            <a:r>
              <a:rPr lang="en-IN" dirty="0"/>
              <a:t> </a:t>
            </a:r>
            <a:r>
              <a:rPr lang="en-IN" b="1" dirty="0"/>
              <a:t>Python Programming - Fundamentals 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23412-BB6A-58C8-CDCA-D5920F99B517}"/>
              </a:ext>
            </a:extLst>
          </p:cNvPr>
          <p:cNvSpPr txBox="1"/>
          <p:nvPr/>
        </p:nvSpPr>
        <p:spPr>
          <a:xfrm>
            <a:off x="7058026" y="4476750"/>
            <a:ext cx="4705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b="1" dirty="0"/>
              <a:t>Professor:</a:t>
            </a:r>
            <a:r>
              <a:rPr lang="en-IN" dirty="0"/>
              <a:t>  </a:t>
            </a:r>
            <a:r>
              <a:rPr lang="en-IN" b="1" dirty="0"/>
              <a:t>Mr. Brunno Vanelli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50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5C88A-F9EF-4B6F-6712-7FF392CEC143}"/>
              </a:ext>
            </a:extLst>
          </p:cNvPr>
          <p:cNvSpPr txBox="1"/>
          <p:nvPr/>
        </p:nvSpPr>
        <p:spPr>
          <a:xfrm>
            <a:off x="1329113" y="557070"/>
            <a:ext cx="56341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Project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774B1-CA9B-AFBF-AF9A-66A0FA74B1C0}"/>
              </a:ext>
            </a:extLst>
          </p:cNvPr>
          <p:cNvSpPr txBox="1"/>
          <p:nvPr/>
        </p:nvSpPr>
        <p:spPr>
          <a:xfrm>
            <a:off x="621792" y="1499616"/>
            <a:ext cx="110002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Electricity use creates </a:t>
            </a:r>
            <a:r>
              <a:rPr lang="en-US" sz="3200" b="1" dirty="0"/>
              <a:t>CO₂ emissions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CO₂ depends on </a:t>
            </a:r>
            <a:r>
              <a:rPr lang="en-US" sz="3200" b="1" dirty="0"/>
              <a:t>when</a:t>
            </a:r>
            <a:r>
              <a:rPr lang="en-US" sz="3200" dirty="0"/>
              <a:t> electricity is used (grid is clean/dirty at different times)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We calculated: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Baseline CO₂ emissions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Sampling accuracy (hourly vs 15-min)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Reduction strategies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0643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93A6C-4FA8-1BD7-E84C-528001D9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3F28C-92BF-C9C4-B647-F443D2C85A4B}"/>
              </a:ext>
            </a:extLst>
          </p:cNvPr>
          <p:cNvSpPr txBox="1"/>
          <p:nvPr/>
        </p:nvSpPr>
        <p:spPr>
          <a:xfrm>
            <a:off x="1636776" y="466344"/>
            <a:ext cx="6199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Data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98C9-CD3B-EEF6-636C-7DE13CF7FF15}"/>
              </a:ext>
            </a:extLst>
          </p:cNvPr>
          <p:cNvSpPr txBox="1"/>
          <p:nvPr/>
        </p:nvSpPr>
        <p:spPr>
          <a:xfrm>
            <a:off x="1115568" y="1444752"/>
            <a:ext cx="97657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Electricity consumption (University)</a:t>
            </a:r>
            <a:r>
              <a:rPr lang="en-IN" sz="2800" dirty="0"/>
              <a:t> → hourly</a:t>
            </a:r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Carbon intensity (German grid)</a:t>
            </a:r>
            <a:r>
              <a:rPr lang="en-IN" sz="2800" dirty="0"/>
              <a:t> → 15-minute</a:t>
            </a:r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combined both to calculate </a:t>
            </a:r>
            <a:r>
              <a:rPr lang="en-US" sz="2800" b="1" dirty="0"/>
              <a:t>CO₂ emissions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6933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AA213-A843-86BD-2BAD-3D4BBD4B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8FF94-2885-2552-9E89-E600EEB105D8}"/>
              </a:ext>
            </a:extLst>
          </p:cNvPr>
          <p:cNvSpPr txBox="1"/>
          <p:nvPr/>
        </p:nvSpPr>
        <p:spPr>
          <a:xfrm>
            <a:off x="1106424" y="521208"/>
            <a:ext cx="7955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challenge: different time resolution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C09D0-349B-7692-DCA8-3CE8F40C8F97}"/>
              </a:ext>
            </a:extLst>
          </p:cNvPr>
          <p:cNvSpPr txBox="1"/>
          <p:nvPr/>
        </p:nvSpPr>
        <p:spPr>
          <a:xfrm>
            <a:off x="877824" y="1527048"/>
            <a:ext cx="10506456" cy="364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Consumption is hourly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Carbon intensity is 15-minute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 we created a high-resolution reference dataset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 used interpolation to align timings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368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789BD-662E-B26C-E185-34BE1B7F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12EE5D-5036-C1EC-3AEB-10A03ADF6AE1}"/>
              </a:ext>
            </a:extLst>
          </p:cNvPr>
          <p:cNvSpPr txBox="1"/>
          <p:nvPr/>
        </p:nvSpPr>
        <p:spPr>
          <a:xfrm>
            <a:off x="925830" y="41883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High-resolution reference dataset (Plot)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25269-96A0-3F75-AC3B-7ADF21CE5D91}"/>
              </a:ext>
            </a:extLst>
          </p:cNvPr>
          <p:cNvSpPr txBox="1"/>
          <p:nvPr/>
        </p:nvSpPr>
        <p:spPr>
          <a:xfrm>
            <a:off x="349758" y="1740813"/>
            <a:ext cx="5273802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plot shows 15-minute carbon intensity data over one representative week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highlights strong temporal fluctuations within and across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These variations would be missed with hourly or daily averages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justifies the use of a high-resolution reference dataset for emissions analysis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CD1BFD-4BAA-052D-178C-3D91013A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22" y="1398461"/>
            <a:ext cx="4837419" cy="420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7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83052-BAB5-91C7-8E42-0EAAC47F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DE0DA-C3E3-D889-CD8A-8273B48D7B55}"/>
              </a:ext>
            </a:extLst>
          </p:cNvPr>
          <p:cNvSpPr txBox="1"/>
          <p:nvPr/>
        </p:nvSpPr>
        <p:spPr>
          <a:xfrm>
            <a:off x="980694" y="638294"/>
            <a:ext cx="7319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Task 1: </a:t>
            </a:r>
            <a:r>
              <a:rPr lang="en-US" sz="2400" b="1" dirty="0"/>
              <a:t>Is hourly sampling accurate enough?</a:t>
            </a:r>
          </a:p>
          <a:p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617B7-5C8E-F43C-A65B-BFABF183B6A0}"/>
              </a:ext>
            </a:extLst>
          </p:cNvPr>
          <p:cNvSpPr txBox="1"/>
          <p:nvPr/>
        </p:nvSpPr>
        <p:spPr>
          <a:xfrm>
            <a:off x="2205990" y="1632311"/>
            <a:ext cx="6094476" cy="27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buildings only have hourly meters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compared: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CO₂ using 15-min baseline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CO₂ using hourly data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820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0974C-FDA6-4D5E-88D7-1A1B2DA0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39D01-4EA9-EB9F-B545-D7767B76F35F}"/>
              </a:ext>
            </a:extLst>
          </p:cNvPr>
          <p:cNvSpPr txBox="1"/>
          <p:nvPr/>
        </p:nvSpPr>
        <p:spPr>
          <a:xfrm>
            <a:off x="373761" y="257776"/>
            <a:ext cx="3649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Hourly vs 15-min CO₂ (Plot)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12BA2-7ABD-74AA-3C14-06401D4D9B4A}"/>
              </a:ext>
            </a:extLst>
          </p:cNvPr>
          <p:cNvSpPr txBox="1"/>
          <p:nvPr/>
        </p:nvSpPr>
        <p:spPr>
          <a:xfrm>
            <a:off x="373189" y="914400"/>
            <a:ext cx="5799011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Result: Hourly and 15-min emissions are almost same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 hourly data is good enough for reporting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BF4A7-AECB-6DC8-3A64-3C93DD36D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" y="2249530"/>
            <a:ext cx="5457825" cy="4524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17CF1E-03F8-CF3F-B65B-A04480786CB5}"/>
              </a:ext>
            </a:extLst>
          </p:cNvPr>
          <p:cNvSpPr txBox="1"/>
          <p:nvPr/>
        </p:nvSpPr>
        <p:spPr>
          <a:xfrm>
            <a:off x="6446520" y="257776"/>
            <a:ext cx="51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Worst-case error scenario (Plot)</a:t>
            </a:r>
          </a:p>
          <a:p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4F2A8-9B42-2245-8AC4-E1213229DD7E}"/>
              </a:ext>
            </a:extLst>
          </p:cNvPr>
          <p:cNvSpPr txBox="1"/>
          <p:nvPr/>
        </p:nvSpPr>
        <p:spPr>
          <a:xfrm>
            <a:off x="6595211" y="755926"/>
            <a:ext cx="522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error is not very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estimated CO₂ emissions increase by approximately </a:t>
            </a:r>
            <a:r>
              <a:rPr lang="en-US" b="1" dirty="0"/>
              <a:t>1.9%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Conclusion: hourly is reliable in real use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6C71EC-50EB-24AF-95DE-6E98BEDB2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312" y="2595394"/>
            <a:ext cx="5223600" cy="383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3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BADFE-EAE8-B824-8F51-F7B2CD9B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D754F-7B6E-C6A7-1598-6957FFB97A7C}"/>
              </a:ext>
            </a:extLst>
          </p:cNvPr>
          <p:cNvSpPr txBox="1"/>
          <p:nvPr/>
        </p:nvSpPr>
        <p:spPr>
          <a:xfrm>
            <a:off x="768096" y="34747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Task 2: What if data is not hourly (example: 6H / 12H / daily)?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86A18-56AE-836B-0A25-66DAD351A88F}"/>
              </a:ext>
            </a:extLst>
          </p:cNvPr>
          <p:cNvSpPr txBox="1"/>
          <p:nvPr/>
        </p:nvSpPr>
        <p:spPr>
          <a:xfrm>
            <a:off x="1053846" y="1771842"/>
            <a:ext cx="4085082" cy="150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Lower resolution → higher error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Best is hourly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196FB-BC7B-A1EF-77AD-70A470D0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197864"/>
            <a:ext cx="6366129" cy="41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3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E18DE-A7F7-3A5A-1D11-56A6BEFD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C0684D-0539-2DD9-1305-14ED48CE2F55}"/>
              </a:ext>
            </a:extLst>
          </p:cNvPr>
          <p:cNvSpPr txBox="1"/>
          <p:nvPr/>
        </p:nvSpPr>
        <p:spPr>
          <a:xfrm>
            <a:off x="987552" y="585216"/>
            <a:ext cx="699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Task 3: On-site solar generation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D2F3E-6DDA-C1CE-2772-B8A83A55C6AA}"/>
              </a:ext>
            </a:extLst>
          </p:cNvPr>
          <p:cNvSpPr txBox="1"/>
          <p:nvPr/>
        </p:nvSpPr>
        <p:spPr>
          <a:xfrm>
            <a:off x="1291590" y="1915775"/>
            <a:ext cx="9827514" cy="339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PVGIS provides solar power, we converted it to energy (kWh)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Then we calculated CO₂ savings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PV installation avoids approximately </a:t>
            </a:r>
            <a:r>
              <a:rPr lang="en-US" sz="2000" b="1" dirty="0"/>
              <a:t>20.6 </a:t>
            </a:r>
            <a:r>
              <a:rPr lang="en-US" sz="2000" b="1" dirty="0" err="1"/>
              <a:t>tonnes</a:t>
            </a:r>
            <a:r>
              <a:rPr lang="en-US" sz="2000" b="1" dirty="0"/>
              <a:t> of CO₂ emissions per year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6583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E8311-2F5F-8817-502A-116FA9AB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47FE6-670A-F1C1-54DF-79080B03286C}"/>
              </a:ext>
            </a:extLst>
          </p:cNvPr>
          <p:cNvSpPr txBox="1"/>
          <p:nvPr/>
        </p:nvSpPr>
        <p:spPr>
          <a:xfrm>
            <a:off x="402336" y="374904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Solar week visualization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3DFD9-9672-8414-1A87-093193337703}"/>
              </a:ext>
            </a:extLst>
          </p:cNvPr>
          <p:cNvSpPr txBox="1"/>
          <p:nvPr/>
        </p:nvSpPr>
        <p:spPr>
          <a:xfrm>
            <a:off x="624078" y="1075867"/>
            <a:ext cx="6094476" cy="1125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Solar production is high in day, low at night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helps replace grid electricity during day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66A54-9145-1FC6-1E22-77FCC3108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8" y="2440922"/>
            <a:ext cx="6544342" cy="3876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6E75DF-1C9E-D4C5-E65C-3869074FD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554" y="2597794"/>
            <a:ext cx="5191125" cy="3562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139F12-5760-A0F9-DC12-6786FCD74920}"/>
              </a:ext>
            </a:extLst>
          </p:cNvPr>
          <p:cNvSpPr txBox="1"/>
          <p:nvPr/>
        </p:nvSpPr>
        <p:spPr>
          <a:xfrm>
            <a:off x="6766560" y="291055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CO₂ savings interpretation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76B55-5D99-5257-186A-5205A9BE5042}"/>
              </a:ext>
            </a:extLst>
          </p:cNvPr>
          <p:cNvSpPr txBox="1"/>
          <p:nvPr/>
        </p:nvSpPr>
        <p:spPr>
          <a:xfrm>
            <a:off x="6629400" y="836569"/>
            <a:ext cx="5477542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Using solar reduces grid usage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That reduces total CO₂ emissions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Saving 20.6 </a:t>
            </a:r>
            <a:r>
              <a:rPr lang="en-US" b="1" dirty="0" err="1"/>
              <a:t>tonnes</a:t>
            </a:r>
            <a:r>
              <a:rPr lang="en-US" b="1" dirty="0"/>
              <a:t> of CO₂ emissions per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17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74D1D-4F66-F879-0415-8ADB2563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8497D4-D9EA-B90B-D662-B49EF65D49FD}"/>
              </a:ext>
            </a:extLst>
          </p:cNvPr>
          <p:cNvSpPr txBox="1"/>
          <p:nvPr/>
        </p:nvSpPr>
        <p:spPr>
          <a:xfrm>
            <a:off x="861822" y="345686"/>
            <a:ext cx="89679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TASK 4  </a:t>
            </a:r>
            <a:r>
              <a:rPr lang="en-US" sz="2800" b="1" dirty="0"/>
              <a:t>Carbon-Aware Operation of an AI Server Rack</a:t>
            </a:r>
            <a:endParaRPr lang="en-US" sz="2400" b="1" dirty="0"/>
          </a:p>
          <a:p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C41C7-597E-4D95-54E0-774CE15AB799}"/>
              </a:ext>
            </a:extLst>
          </p:cNvPr>
          <p:cNvSpPr txBox="1"/>
          <p:nvPr/>
        </p:nvSpPr>
        <p:spPr>
          <a:xfrm>
            <a:off x="861822" y="822739"/>
            <a:ext cx="6094476" cy="185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Carbon intensity follows a daily pattern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Some hours are cleaner, some hours are dirtier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pattern is used later in Task-6 strategies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C008D-1F20-3867-5891-135B935F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04" y="2839236"/>
            <a:ext cx="5105400" cy="3714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7971B-0860-02FA-2FB2-1F933CC58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22" y="2839236"/>
            <a:ext cx="66198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6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30C96-CBB3-BB9B-DB32-CA9DEFB6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034E6-4683-6DC5-1549-CEC389A18638}"/>
              </a:ext>
            </a:extLst>
          </p:cNvPr>
          <p:cNvSpPr txBox="1"/>
          <p:nvPr/>
        </p:nvSpPr>
        <p:spPr>
          <a:xfrm>
            <a:off x="614934" y="610862"/>
            <a:ext cx="94800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Task 5  </a:t>
            </a:r>
            <a:r>
              <a:rPr lang="en-US" sz="2400" b="1" dirty="0"/>
              <a:t>Relationship Between Electricity Price and Carbon Intensity</a:t>
            </a:r>
          </a:p>
          <a:p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CF2FF-D889-DE35-629B-0EC3DF99865A}"/>
              </a:ext>
            </a:extLst>
          </p:cNvPr>
          <p:cNvSpPr txBox="1"/>
          <p:nvPr/>
        </p:nvSpPr>
        <p:spPr>
          <a:xfrm>
            <a:off x="1613916" y="1670227"/>
            <a:ext cx="6542532" cy="312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did not use direct CO₂ here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used: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Electricity price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Renewable generation</a:t>
            </a:r>
            <a:endParaRPr lang="en-I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Goal: check relationship between renewables and market price</a:t>
            </a:r>
          </a:p>
        </p:txBody>
      </p:sp>
    </p:spTree>
    <p:extLst>
      <p:ext uri="{BB962C8B-B14F-4D97-AF65-F5344CB8AC3E}">
        <p14:creationId xmlns:p14="http://schemas.microsoft.com/office/powerpoint/2010/main" val="159170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C2045-F9BF-EC48-6862-E1AD9E39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ABD9AF-A93F-1249-CE21-0F0CB7625B23}"/>
              </a:ext>
            </a:extLst>
          </p:cNvPr>
          <p:cNvSpPr txBox="1"/>
          <p:nvPr/>
        </p:nvSpPr>
        <p:spPr>
          <a:xfrm>
            <a:off x="3266694" y="20406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Price vs Renewable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22694-CD4D-91F5-4F2B-269BD9C80A3B}"/>
              </a:ext>
            </a:extLst>
          </p:cNvPr>
          <p:cNvSpPr txBox="1"/>
          <p:nvPr/>
        </p:nvSpPr>
        <p:spPr>
          <a:xfrm>
            <a:off x="152591" y="860152"/>
            <a:ext cx="5072634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Scatter plot shows a clear downward trend between renewable generation and electricity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 renewable generation is associated with higher electricity prices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Higher renewable availability corresponds to significantly lower prices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Pearson correlation coefficient: −0.74</a:t>
            </a:r>
            <a:r>
              <a:rPr lang="en-US" sz="2000" dirty="0"/>
              <a:t> (strong negative correlation)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p-value &lt; 0.01</a:t>
            </a:r>
            <a:r>
              <a:rPr lang="en-US" sz="2000" dirty="0"/>
              <a:t>, indicating the relationship is statistically significant</a:t>
            </a:r>
            <a:endParaRPr lang="en-IN" sz="2000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5A8BE-1D90-746E-1B5E-184EC28A4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534" y="982099"/>
            <a:ext cx="66198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91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07863-2566-5B2C-9115-8A44C296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07B33-A07F-093D-8539-F88FB2BEFF69}"/>
              </a:ext>
            </a:extLst>
          </p:cNvPr>
          <p:cNvSpPr txBox="1"/>
          <p:nvPr/>
        </p:nvSpPr>
        <p:spPr>
          <a:xfrm>
            <a:off x="614934" y="738878"/>
            <a:ext cx="80078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TASK 6: </a:t>
            </a:r>
            <a:r>
              <a:rPr lang="en-US" sz="2400" b="1" dirty="0"/>
              <a:t>Data-Driven Strategies to Reduce CO₂ Emissions</a:t>
            </a:r>
          </a:p>
          <a:p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983D2-D484-C576-D8DB-2FDD83B041BC}"/>
              </a:ext>
            </a:extLst>
          </p:cNvPr>
          <p:cNvSpPr txBox="1"/>
          <p:nvPr/>
        </p:nvSpPr>
        <p:spPr>
          <a:xfrm>
            <a:off x="614934" y="1446764"/>
            <a:ext cx="69105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Strategy 1 -  </a:t>
            </a:r>
            <a:r>
              <a:rPr lang="en-US" sz="2000" b="1" dirty="0"/>
              <a:t>Reduce electricity usage in high-carbon hours</a:t>
            </a:r>
          </a:p>
          <a:p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C0A78-55F0-D0D6-D47E-8997857FA4F0}"/>
              </a:ext>
            </a:extLst>
          </p:cNvPr>
          <p:cNvSpPr txBox="1"/>
          <p:nvPr/>
        </p:nvSpPr>
        <p:spPr>
          <a:xfrm>
            <a:off x="428625" y="2060614"/>
            <a:ext cx="5481066" cy="124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 high-carbon window: 02:00–06:00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Even small reduction gives good CO₂ savings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62E3D4-F936-094F-3861-2B48C920B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819" y="2060614"/>
            <a:ext cx="56673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5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34D08-B471-27EC-75E3-9AC2A648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3DD2E-C5BA-EF82-DA51-33DFD8819514}"/>
              </a:ext>
            </a:extLst>
          </p:cNvPr>
          <p:cNvSpPr txBox="1"/>
          <p:nvPr/>
        </p:nvSpPr>
        <p:spPr>
          <a:xfrm>
            <a:off x="322326" y="64743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Strategy 2: Shift flexible usage to low-carbon hours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398C1-7FCB-36CE-F77C-C7BC1DA301BE}"/>
              </a:ext>
            </a:extLst>
          </p:cNvPr>
          <p:cNvSpPr txBox="1"/>
          <p:nvPr/>
        </p:nvSpPr>
        <p:spPr>
          <a:xfrm>
            <a:off x="404622" y="1341043"/>
            <a:ext cx="6094476" cy="124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Total energy stays same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CO₂ becomes lower because electricity is cleaner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7F65F-EE60-62F1-11D9-24A1EB5B5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879" y="2581639"/>
            <a:ext cx="52768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20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415FF-DE4C-9CE3-C80E-069C77CA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D8593-D6B0-89C5-4974-E4F69037A400}"/>
              </a:ext>
            </a:extLst>
          </p:cNvPr>
          <p:cNvSpPr txBox="1"/>
          <p:nvPr/>
        </p:nvSpPr>
        <p:spPr>
          <a:xfrm>
            <a:off x="404622" y="583430"/>
            <a:ext cx="7834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Strategy 3: Use more electricity when solar is available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6484E-7F6F-EB62-2656-B9F7CD5E23F5}"/>
              </a:ext>
            </a:extLst>
          </p:cNvPr>
          <p:cNvSpPr txBox="1"/>
          <p:nvPr/>
        </p:nvSpPr>
        <p:spPr>
          <a:xfrm>
            <a:off x="991362" y="1224784"/>
            <a:ext cx="6094476" cy="124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Solar replaces grid electricity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Best result is combining Strategy 1 + 2 + 3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7092F-2C0B-06DF-A582-B7D9350CF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199" y="2706624"/>
            <a:ext cx="5188999" cy="391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22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B67FF-4BD9-36C6-B896-BFB3858B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6C939A-4906-13DF-A0A2-40F565C08917}"/>
              </a:ext>
            </a:extLst>
          </p:cNvPr>
          <p:cNvSpPr txBox="1"/>
          <p:nvPr/>
        </p:nvSpPr>
        <p:spPr>
          <a:xfrm>
            <a:off x="2926080" y="1581912"/>
            <a:ext cx="71414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/>
              <a:t>Thank You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154216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576</Words>
  <Application>Microsoft Office PowerPoint</Application>
  <PresentationFormat>Widescreen</PresentationFormat>
  <Paragraphs>86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Maduri</dc:creator>
  <cp:lastModifiedBy>Uday Maduri</cp:lastModifiedBy>
  <cp:revision>31</cp:revision>
  <dcterms:created xsi:type="dcterms:W3CDTF">2026-01-19T13:38:58Z</dcterms:created>
  <dcterms:modified xsi:type="dcterms:W3CDTF">2026-01-20T20:27:28Z</dcterms:modified>
</cp:coreProperties>
</file>